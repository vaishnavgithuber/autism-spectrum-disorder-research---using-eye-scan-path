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nva Sans Bold" charset="1" panose="020B0803030501040103"/>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20975" y="952500"/>
            <a:ext cx="13646051" cy="2362200"/>
          </a:xfrm>
          <a:prstGeom prst="rect">
            <a:avLst/>
          </a:prstGeom>
        </p:spPr>
        <p:txBody>
          <a:bodyPr anchor="t" rtlCol="false" tIns="0" lIns="0" bIns="0" rIns="0">
            <a:spAutoFit/>
          </a:bodyPr>
          <a:lstStyle/>
          <a:p>
            <a:pPr algn="ctr">
              <a:lnSpc>
                <a:spcPts val="6299"/>
              </a:lnSpc>
            </a:pPr>
            <a:r>
              <a:rPr lang="en-US" sz="4500" b="true">
                <a:solidFill>
                  <a:srgbClr val="000000"/>
                </a:solidFill>
                <a:latin typeface="Canva Sans Bold"/>
                <a:ea typeface="Canva Sans Bold"/>
                <a:cs typeface="Canva Sans Bold"/>
                <a:sym typeface="Canva Sans Bold"/>
              </a:rPr>
              <a:t>Autism Spectrum Disorder - Using Eye Scan path </a:t>
            </a:r>
          </a:p>
          <a:p>
            <a:pPr algn="ctr">
              <a:lnSpc>
                <a:spcPts val="6299"/>
              </a:lnSpc>
            </a:pPr>
            <a:r>
              <a:rPr lang="en-US" sz="4500">
                <a:solidFill>
                  <a:srgbClr val="000000"/>
                </a:solidFill>
                <a:latin typeface="Canva Sans"/>
                <a:ea typeface="Canva Sans"/>
                <a:cs typeface="Canva Sans"/>
                <a:sym typeface="Canva Sans"/>
              </a:rPr>
              <a:t>16 Feb 2025</a:t>
            </a:r>
          </a:p>
          <a:p>
            <a:pPr algn="ctr">
              <a:lnSpc>
                <a:spcPts val="6299"/>
              </a:lnSpc>
              <a:spcBef>
                <a:spcPct val="0"/>
              </a:spcBef>
            </a:pPr>
            <a:r>
              <a:rPr lang="en-US" sz="4500">
                <a:solidFill>
                  <a:srgbClr val="000000"/>
                </a:solidFill>
                <a:latin typeface="Canva Sans"/>
                <a:ea typeface="Canva Sans"/>
                <a:cs typeface="Canva Sans"/>
                <a:sym typeface="Canva Sans"/>
              </a:rPr>
              <a:t>Data Augmentation</a:t>
            </a:r>
          </a:p>
        </p:txBody>
      </p:sp>
      <p:sp>
        <p:nvSpPr>
          <p:cNvPr name="TextBox 3" id="3"/>
          <p:cNvSpPr txBox="true"/>
          <p:nvPr/>
        </p:nvSpPr>
        <p:spPr>
          <a:xfrm rot="0">
            <a:off x="6541666" y="7696200"/>
            <a:ext cx="5204668" cy="1562100"/>
          </a:xfrm>
          <a:prstGeom prst="rect">
            <a:avLst/>
          </a:prstGeom>
        </p:spPr>
        <p:txBody>
          <a:bodyPr anchor="t" rtlCol="false" tIns="0" lIns="0" bIns="0" rIns="0">
            <a:spAutoFit/>
          </a:bodyPr>
          <a:lstStyle/>
          <a:p>
            <a:pPr algn="ctr">
              <a:lnSpc>
                <a:spcPts val="6299"/>
              </a:lnSpc>
            </a:pPr>
            <a:r>
              <a:rPr lang="en-US" sz="4500">
                <a:solidFill>
                  <a:srgbClr val="000000"/>
                </a:solidFill>
                <a:latin typeface="Canva Sans"/>
                <a:ea typeface="Canva Sans"/>
                <a:cs typeface="Canva Sans"/>
                <a:sym typeface="Canva Sans"/>
              </a:rPr>
              <a:t>Vaishnav Krishna P</a:t>
            </a:r>
          </a:p>
          <a:p>
            <a:pPr algn="ctr">
              <a:lnSpc>
                <a:spcPts val="6299"/>
              </a:lnSpc>
              <a:spcBef>
                <a:spcPct val="0"/>
              </a:spcBef>
            </a:pPr>
            <a:r>
              <a:rPr lang="en-US" sz="4500">
                <a:solidFill>
                  <a:srgbClr val="000000"/>
                </a:solidFill>
                <a:latin typeface="Canva Sans"/>
                <a:ea typeface="Canva Sans"/>
                <a:cs typeface="Canva Sans"/>
                <a:sym typeface="Canva Sans"/>
              </a:rPr>
              <a:t>Report 2</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97277" y="1400175"/>
            <a:ext cx="15093446" cy="4368165"/>
          </a:xfrm>
          <a:prstGeom prst="rect">
            <a:avLst/>
          </a:prstGeom>
        </p:spPr>
        <p:txBody>
          <a:bodyPr anchor="t" rtlCol="false" tIns="0" lIns="0" bIns="0" rIns="0">
            <a:spAutoFit/>
          </a:bodyPr>
          <a:lstStyle/>
          <a:p>
            <a:pPr algn="ctr">
              <a:lnSpc>
                <a:spcPts val="6159"/>
              </a:lnSpc>
            </a:pPr>
            <a:r>
              <a:rPr lang="en-US" sz="4399">
                <a:solidFill>
                  <a:srgbClr val="000000"/>
                </a:solidFill>
                <a:latin typeface="Canva Sans"/>
                <a:ea typeface="Canva Sans"/>
                <a:cs typeface="Canva Sans"/>
                <a:sym typeface="Canva Sans"/>
              </a:rPr>
              <a:t>Outline</a:t>
            </a:r>
          </a:p>
          <a:p>
            <a:pPr algn="l" marL="734058" indent="-367029" lvl="1">
              <a:lnSpc>
                <a:spcPts val="4759"/>
              </a:lnSpc>
              <a:buAutoNum type="arabicPeriod" startAt="1"/>
            </a:pPr>
            <a:r>
              <a:rPr lang="en-US" sz="3399">
                <a:solidFill>
                  <a:srgbClr val="000000"/>
                </a:solidFill>
                <a:latin typeface="Canva Sans"/>
                <a:ea typeface="Canva Sans"/>
                <a:cs typeface="Canva Sans"/>
                <a:sym typeface="Canva Sans"/>
              </a:rPr>
              <a:t>Introduction</a:t>
            </a:r>
          </a:p>
          <a:p>
            <a:pPr algn="l" marL="734058" indent="-367029" lvl="1">
              <a:lnSpc>
                <a:spcPts val="4759"/>
              </a:lnSpc>
              <a:buAutoNum type="arabicPeriod" startAt="1"/>
            </a:pPr>
            <a:r>
              <a:rPr lang="en-US" sz="3399">
                <a:solidFill>
                  <a:srgbClr val="000000"/>
                </a:solidFill>
                <a:latin typeface="Canva Sans"/>
                <a:ea typeface="Canva Sans"/>
                <a:cs typeface="Canva Sans"/>
                <a:sym typeface="Canva Sans"/>
              </a:rPr>
              <a:t>Objective</a:t>
            </a:r>
          </a:p>
          <a:p>
            <a:pPr algn="l" marL="734058" indent="-367029" lvl="1">
              <a:lnSpc>
                <a:spcPts val="4759"/>
              </a:lnSpc>
              <a:buAutoNum type="arabicPeriod" startAt="1"/>
            </a:pPr>
            <a:r>
              <a:rPr lang="en-US" sz="3399">
                <a:solidFill>
                  <a:srgbClr val="000000"/>
                </a:solidFill>
                <a:latin typeface="Canva Sans"/>
                <a:ea typeface="Canva Sans"/>
                <a:cs typeface="Canva Sans"/>
                <a:sym typeface="Canva Sans"/>
              </a:rPr>
              <a:t>Methodology</a:t>
            </a:r>
          </a:p>
          <a:p>
            <a:pPr algn="l" marL="734058" indent="-367029" lvl="1">
              <a:lnSpc>
                <a:spcPts val="4759"/>
              </a:lnSpc>
              <a:buAutoNum type="arabicPeriod" startAt="1"/>
            </a:pPr>
            <a:r>
              <a:rPr lang="en-US" sz="3399">
                <a:solidFill>
                  <a:srgbClr val="000000"/>
                </a:solidFill>
                <a:latin typeface="Canva Sans"/>
                <a:ea typeface="Canva Sans"/>
                <a:cs typeface="Canva Sans"/>
                <a:sym typeface="Canva Sans"/>
              </a:rPr>
              <a:t>Results</a:t>
            </a:r>
          </a:p>
          <a:p>
            <a:pPr algn="l" marL="734058" indent="-367029" lvl="1">
              <a:lnSpc>
                <a:spcPts val="4759"/>
              </a:lnSpc>
              <a:buAutoNum type="arabicPeriod" startAt="1"/>
            </a:pPr>
            <a:r>
              <a:rPr lang="en-US" sz="3399">
                <a:solidFill>
                  <a:srgbClr val="000000"/>
                </a:solidFill>
                <a:latin typeface="Canva Sans"/>
                <a:ea typeface="Canva Sans"/>
                <a:cs typeface="Canva Sans"/>
                <a:sym typeface="Canva Sans"/>
              </a:rPr>
              <a:t>Conclusion </a:t>
            </a:r>
          </a:p>
          <a:p>
            <a:pPr algn="l">
              <a:lnSpc>
                <a:spcPts val="475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08813" y="952500"/>
            <a:ext cx="3470374"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Introduction</a:t>
            </a:r>
          </a:p>
        </p:txBody>
      </p:sp>
      <p:sp>
        <p:nvSpPr>
          <p:cNvPr name="TextBox 3" id="3"/>
          <p:cNvSpPr txBox="true"/>
          <p:nvPr/>
        </p:nvSpPr>
        <p:spPr>
          <a:xfrm rot="0">
            <a:off x="1028700" y="2177797"/>
            <a:ext cx="16230600" cy="63817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The Orginal Dataset includes 547 images with 328 non ASD(Autistic Spectrum Disorder) and 219 ASD images. From the baseline accuracy testing very clear that this many images are not enough to build a good model. So, we apply Data Augmentation techniques. </a:t>
            </a:r>
          </a:p>
          <a:p>
            <a:pPr algn="l">
              <a:lnSpc>
                <a:spcPts val="4200"/>
              </a:lnSpc>
            </a:pPr>
          </a:p>
          <a:p>
            <a:pPr algn="l">
              <a:lnSpc>
                <a:spcPts val="4200"/>
              </a:lnSpc>
            </a:pPr>
            <a:r>
              <a:rPr lang="en-US" sz="3000">
                <a:solidFill>
                  <a:srgbClr val="000000"/>
                </a:solidFill>
                <a:latin typeface="Canva Sans"/>
                <a:ea typeface="Canva Sans"/>
                <a:cs typeface="Canva Sans"/>
                <a:sym typeface="Canva Sans"/>
              </a:rPr>
              <a:t>Data Augmentation Techniques are used to generate synthetic samples by image transformations. Some of the Data Augmentation techniques includes,</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Horizontal flipping </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Gaussian Noise </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Vertical flipping</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Hue/Saturation</a:t>
            </a:r>
          </a:p>
          <a:p>
            <a:pPr algn="l" marL="647700" indent="-323850" lvl="1">
              <a:lnSpc>
                <a:spcPts val="4200"/>
              </a:lnSpc>
              <a:spcBef>
                <a:spcPct val="0"/>
              </a:spcBef>
              <a:buAutoNum type="arabicPeriod" startAt="1"/>
            </a:pPr>
            <a:r>
              <a:rPr lang="en-US" sz="3000">
                <a:solidFill>
                  <a:srgbClr val="000000"/>
                </a:solidFill>
                <a:latin typeface="Canva Sans"/>
                <a:ea typeface="Canva Sans"/>
                <a:cs typeface="Canva Sans"/>
                <a:sym typeface="Canva Sans"/>
              </a:rPr>
              <a:t>Rotation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819727" y="952500"/>
            <a:ext cx="2648545"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Objective</a:t>
            </a:r>
          </a:p>
        </p:txBody>
      </p:sp>
      <p:sp>
        <p:nvSpPr>
          <p:cNvPr name="TextBox 3" id="3"/>
          <p:cNvSpPr txBox="true"/>
          <p:nvPr/>
        </p:nvSpPr>
        <p:spPr>
          <a:xfrm rot="0">
            <a:off x="1028700" y="2177797"/>
            <a:ext cx="16230600" cy="69151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The objective of this experimental setup is to apply various Data augmentation techniques to enlarge our dataset from 547 to 2564 around 4-5 times the orginal dataset by applying various data augmentation techniques. </a:t>
            </a:r>
          </a:p>
          <a:p>
            <a:pPr algn="l">
              <a:lnSpc>
                <a:spcPts val="4200"/>
              </a:lnSpc>
            </a:pPr>
          </a:p>
          <a:p>
            <a:pPr algn="l">
              <a:lnSpc>
                <a:spcPts val="4200"/>
              </a:lnSpc>
            </a:pPr>
            <a:r>
              <a:rPr lang="en-US" sz="3000">
                <a:solidFill>
                  <a:srgbClr val="000000"/>
                </a:solidFill>
                <a:latin typeface="Canva Sans"/>
                <a:ea typeface="Canva Sans"/>
                <a:cs typeface="Canva Sans"/>
                <a:sym typeface="Canva Sans"/>
              </a:rPr>
              <a:t>Note: Since we are dealing with the eye track scan path, we cannot perform horizontal flipping, vertical flipping, large rotation, etc., because it changes the meaning of the data and train model with false data. </a:t>
            </a:r>
          </a:p>
          <a:p>
            <a:pPr algn="l">
              <a:lnSpc>
                <a:spcPts val="4200"/>
              </a:lnSpc>
            </a:pP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Train the various pre-trained models with the data augmented data, </a:t>
            </a:r>
          </a:p>
          <a:p>
            <a:pPr algn="l" marL="1295400" indent="-431800" lvl="2">
              <a:lnSpc>
                <a:spcPts val="4200"/>
              </a:lnSpc>
              <a:buFont typeface="Arial"/>
              <a:buChar char="⚬"/>
            </a:pPr>
            <a:r>
              <a:rPr lang="en-US" sz="3000">
                <a:solidFill>
                  <a:srgbClr val="000000"/>
                </a:solidFill>
                <a:latin typeface="Canva Sans"/>
                <a:ea typeface="Canva Sans"/>
                <a:cs typeface="Canva Sans"/>
                <a:sym typeface="Canva Sans"/>
              </a:rPr>
              <a:t>MobileNetv2</a:t>
            </a:r>
          </a:p>
          <a:p>
            <a:pPr algn="l" marL="1295400" indent="-431800" lvl="2">
              <a:lnSpc>
                <a:spcPts val="4200"/>
              </a:lnSpc>
              <a:buFont typeface="Arial"/>
              <a:buChar char="⚬"/>
            </a:pPr>
            <a:r>
              <a:rPr lang="en-US" sz="3000">
                <a:solidFill>
                  <a:srgbClr val="000000"/>
                </a:solidFill>
                <a:latin typeface="Canva Sans"/>
                <a:ea typeface="Canva Sans"/>
                <a:cs typeface="Canva Sans"/>
                <a:sym typeface="Canva Sans"/>
              </a:rPr>
              <a:t>ResNet50</a:t>
            </a:r>
          </a:p>
          <a:p>
            <a:pPr algn="l" marL="1295400" indent="-431800" lvl="2">
              <a:lnSpc>
                <a:spcPts val="4200"/>
              </a:lnSpc>
              <a:buFont typeface="Arial"/>
              <a:buChar char="⚬"/>
            </a:pPr>
            <a:r>
              <a:rPr lang="en-US" sz="3000">
                <a:solidFill>
                  <a:srgbClr val="000000"/>
                </a:solidFill>
                <a:latin typeface="Canva Sans"/>
                <a:ea typeface="Canva Sans"/>
                <a:cs typeface="Canva Sans"/>
                <a:sym typeface="Canva Sans"/>
              </a:rPr>
              <a:t>DenseNet121</a:t>
            </a:r>
          </a:p>
          <a:p>
            <a:pPr algn="l" marL="1295400" indent="-431800" lvl="2">
              <a:lnSpc>
                <a:spcPts val="4200"/>
              </a:lnSpc>
              <a:spcBef>
                <a:spcPct val="0"/>
              </a:spcBef>
              <a:buFont typeface="Arial"/>
              <a:buChar char="⚬"/>
            </a:pPr>
            <a:r>
              <a:rPr lang="en-US" sz="3000">
                <a:solidFill>
                  <a:srgbClr val="000000"/>
                </a:solidFill>
                <a:latin typeface="Canva Sans"/>
                <a:ea typeface="Canva Sans"/>
                <a:cs typeface="Canva Sans"/>
                <a:sym typeface="Canva Sans"/>
              </a:rPr>
              <a:t>EfficentNetv2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216022"/>
            <a:ext cx="16113013" cy="4592209"/>
          </a:xfrm>
          <a:custGeom>
            <a:avLst/>
            <a:gdLst/>
            <a:ahLst/>
            <a:cxnLst/>
            <a:rect r="r" b="b" t="t" l="l"/>
            <a:pathLst>
              <a:path h="4592209" w="16113013">
                <a:moveTo>
                  <a:pt x="0" y="0"/>
                </a:moveTo>
                <a:lnTo>
                  <a:pt x="16113013" y="0"/>
                </a:lnTo>
                <a:lnTo>
                  <a:pt x="16113013" y="4592209"/>
                </a:lnTo>
                <a:lnTo>
                  <a:pt x="0" y="4592209"/>
                </a:lnTo>
                <a:lnTo>
                  <a:pt x="0" y="0"/>
                </a:lnTo>
                <a:close/>
              </a:path>
            </a:pathLst>
          </a:custGeom>
          <a:blipFill>
            <a:blip r:embed="rId2"/>
            <a:stretch>
              <a:fillRect l="0" t="0" r="0" b="0"/>
            </a:stretch>
          </a:blipFill>
        </p:spPr>
      </p:sp>
      <p:sp>
        <p:nvSpPr>
          <p:cNvPr name="TextBox 3" id="3"/>
          <p:cNvSpPr txBox="true"/>
          <p:nvPr/>
        </p:nvSpPr>
        <p:spPr>
          <a:xfrm rot="0">
            <a:off x="7311033" y="952500"/>
            <a:ext cx="3665934"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Methodology</a:t>
            </a:r>
          </a:p>
        </p:txBody>
      </p:sp>
      <p:sp>
        <p:nvSpPr>
          <p:cNvPr name="TextBox 4" id="4"/>
          <p:cNvSpPr txBox="true"/>
          <p:nvPr/>
        </p:nvSpPr>
        <p:spPr>
          <a:xfrm rot="0">
            <a:off x="1028700" y="2177797"/>
            <a:ext cx="16230600" cy="5143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Data Augmentation Techniques,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649085"/>
            <a:ext cx="16230600" cy="4788027"/>
          </a:xfrm>
          <a:custGeom>
            <a:avLst/>
            <a:gdLst/>
            <a:ahLst/>
            <a:cxnLst/>
            <a:rect r="r" b="b" t="t" l="l"/>
            <a:pathLst>
              <a:path h="4788027" w="16230600">
                <a:moveTo>
                  <a:pt x="0" y="0"/>
                </a:moveTo>
                <a:lnTo>
                  <a:pt x="16230600" y="0"/>
                </a:lnTo>
                <a:lnTo>
                  <a:pt x="16230600" y="4788027"/>
                </a:lnTo>
                <a:lnTo>
                  <a:pt x="0" y="4788027"/>
                </a:lnTo>
                <a:lnTo>
                  <a:pt x="0" y="0"/>
                </a:lnTo>
                <a:close/>
              </a:path>
            </a:pathLst>
          </a:custGeom>
          <a:blipFill>
            <a:blip r:embed="rId2"/>
            <a:stretch>
              <a:fillRect l="0" t="0" r="0" b="0"/>
            </a:stretch>
          </a:blipFill>
        </p:spPr>
      </p:sp>
      <p:sp>
        <p:nvSpPr>
          <p:cNvPr name="TextBox 3" id="3"/>
          <p:cNvSpPr txBox="true"/>
          <p:nvPr/>
        </p:nvSpPr>
        <p:spPr>
          <a:xfrm rot="0">
            <a:off x="7311033" y="952500"/>
            <a:ext cx="3665934"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Methodology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177797"/>
            <a:ext cx="16230600" cy="5314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The offline Data augmented dataset is generated from the original dataset; the no of images after the augmentation was about 2564 images. </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each image of about 4-5 augmentation</a:t>
            </a:r>
          </a:p>
          <a:p>
            <a:pPr algn="l">
              <a:lnSpc>
                <a:spcPts val="4200"/>
              </a:lnSpc>
            </a:pPr>
          </a:p>
          <a:p>
            <a:pPr algn="l">
              <a:lnSpc>
                <a:spcPts val="4200"/>
              </a:lnSpc>
            </a:pPr>
            <a:r>
              <a:rPr lang="en-US" sz="3000">
                <a:solidFill>
                  <a:srgbClr val="000000"/>
                </a:solidFill>
                <a:latin typeface="Canva Sans"/>
                <a:ea typeface="Canva Sans"/>
                <a:cs typeface="Canva Sans"/>
                <a:sym typeface="Canva Sans"/>
              </a:rPr>
              <a:t>The data augmentation techniques applied in our case are, </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 slight rotation</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 small horizontal shift</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 small vertical shift</a:t>
            </a:r>
          </a:p>
          <a:p>
            <a:pPr algn="l" marL="647700" indent="-323850" lvl="1">
              <a:lnSpc>
                <a:spcPts val="4200"/>
              </a:lnSpc>
              <a:buAutoNum type="arabicPeriod" startAt="1"/>
            </a:pPr>
            <a:r>
              <a:rPr lang="en-US" sz="3000">
                <a:solidFill>
                  <a:srgbClr val="000000"/>
                </a:solidFill>
                <a:latin typeface="Canva Sans"/>
                <a:ea typeface="Canva Sans"/>
                <a:cs typeface="Canva Sans"/>
                <a:sym typeface="Canva Sans"/>
              </a:rPr>
              <a:t> small zoom </a:t>
            </a:r>
          </a:p>
          <a:p>
            <a:pPr algn="l" marL="647700" indent="-323850" lvl="1">
              <a:lnSpc>
                <a:spcPts val="4200"/>
              </a:lnSpc>
              <a:spcBef>
                <a:spcPct val="0"/>
              </a:spcBef>
              <a:buAutoNum type="arabicPeriod" startAt="1"/>
            </a:pPr>
            <a:r>
              <a:rPr lang="en-US" sz="3000">
                <a:solidFill>
                  <a:srgbClr val="000000"/>
                </a:solidFill>
                <a:latin typeface="Canva Sans"/>
                <a:ea typeface="Canva Sans"/>
                <a:cs typeface="Canva Sans"/>
                <a:sym typeface="Canva Sans"/>
              </a:rPr>
              <a:t> slight brightness change</a:t>
            </a:r>
          </a:p>
        </p:txBody>
      </p:sp>
      <p:sp>
        <p:nvSpPr>
          <p:cNvPr name="TextBox 3" id="3"/>
          <p:cNvSpPr txBox="true"/>
          <p:nvPr/>
        </p:nvSpPr>
        <p:spPr>
          <a:xfrm rot="0">
            <a:off x="7311033" y="952500"/>
            <a:ext cx="3665934"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Methodology</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95802" y="952500"/>
            <a:ext cx="5696396"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Experimental Setups</a:t>
            </a:r>
          </a:p>
        </p:txBody>
      </p:sp>
      <p:sp>
        <p:nvSpPr>
          <p:cNvPr name="TextBox 3" id="3"/>
          <p:cNvSpPr txBox="true"/>
          <p:nvPr/>
        </p:nvSpPr>
        <p:spPr>
          <a:xfrm rot="0">
            <a:off x="1028700" y="2177797"/>
            <a:ext cx="16230600" cy="63817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Entire experiments were conducted on Google Colab with a free GPU resources. The parameters used across the experiments includes, </a:t>
            </a:r>
          </a:p>
          <a:p>
            <a:pPr algn="l">
              <a:lnSpc>
                <a:spcPts val="4200"/>
              </a:lnSpc>
            </a:pP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Test size: 0.2</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Image size: 128*128*3 / 224*224*3(orginal image: 640*480*3)</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Batch size: 16</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Train, Test image size: 2052,512</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hidden layer: 128 neurons(relu activation fn)</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Dropout(0.5)</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output layer: 1(sigmoid activation fn)</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epochs: 20(applied early stopping - callback)</a:t>
            </a:r>
          </a:p>
          <a:p>
            <a:pPr algn="l" marL="647700" indent="-323850" lvl="1">
              <a:lnSpc>
                <a:spcPts val="4200"/>
              </a:lnSpc>
              <a:spcBef>
                <a:spcPct val="0"/>
              </a:spcBef>
              <a:buFont typeface="Arial"/>
              <a:buChar char="•"/>
            </a:pPr>
            <a:r>
              <a:rPr lang="en-US" sz="3000">
                <a:solidFill>
                  <a:srgbClr val="000000"/>
                </a:solidFill>
                <a:latin typeface="Canva Sans"/>
                <a:ea typeface="Canva Sans"/>
                <a:cs typeface="Canva Sans"/>
                <a:sym typeface="Canva Sans"/>
              </a:rPr>
              <a:t>metrics - accuracy, precision, recall, f1-score, MCC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1538" y="2625163"/>
            <a:ext cx="16230600" cy="5558980"/>
          </a:xfrm>
          <a:custGeom>
            <a:avLst/>
            <a:gdLst/>
            <a:ahLst/>
            <a:cxnLst/>
            <a:rect r="r" b="b" t="t" l="l"/>
            <a:pathLst>
              <a:path h="5558980" w="16230600">
                <a:moveTo>
                  <a:pt x="0" y="0"/>
                </a:moveTo>
                <a:lnTo>
                  <a:pt x="16230600" y="0"/>
                </a:lnTo>
                <a:lnTo>
                  <a:pt x="16230600" y="5558980"/>
                </a:lnTo>
                <a:lnTo>
                  <a:pt x="0" y="5558980"/>
                </a:lnTo>
                <a:lnTo>
                  <a:pt x="0" y="0"/>
                </a:lnTo>
                <a:close/>
              </a:path>
            </a:pathLst>
          </a:custGeom>
          <a:blipFill>
            <a:blip r:embed="rId2"/>
            <a:stretch>
              <a:fillRect l="0" t="0" r="0" b="0"/>
            </a:stretch>
          </a:blipFill>
        </p:spPr>
      </p:sp>
      <p:sp>
        <p:nvSpPr>
          <p:cNvPr name="TextBox 3" id="3"/>
          <p:cNvSpPr txBox="true"/>
          <p:nvPr/>
        </p:nvSpPr>
        <p:spPr>
          <a:xfrm rot="0">
            <a:off x="4247034" y="952500"/>
            <a:ext cx="9793932"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Base accuracy - Data Augmentation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412551"/>
            <a:ext cx="16038708" cy="4049774"/>
          </a:xfrm>
          <a:custGeom>
            <a:avLst/>
            <a:gdLst/>
            <a:ahLst/>
            <a:cxnLst/>
            <a:rect r="r" b="b" t="t" l="l"/>
            <a:pathLst>
              <a:path h="4049774" w="16038708">
                <a:moveTo>
                  <a:pt x="0" y="0"/>
                </a:moveTo>
                <a:lnTo>
                  <a:pt x="16038708" y="0"/>
                </a:lnTo>
                <a:lnTo>
                  <a:pt x="16038708" y="4049774"/>
                </a:lnTo>
                <a:lnTo>
                  <a:pt x="0" y="4049774"/>
                </a:lnTo>
                <a:lnTo>
                  <a:pt x="0" y="0"/>
                </a:lnTo>
                <a:close/>
              </a:path>
            </a:pathLst>
          </a:custGeom>
          <a:blipFill>
            <a:blip r:embed="rId2"/>
            <a:stretch>
              <a:fillRect l="0" t="0" r="0" b="0"/>
            </a:stretch>
          </a:blipFill>
        </p:spPr>
      </p:sp>
      <p:sp>
        <p:nvSpPr>
          <p:cNvPr name="TextBox 3" id="3"/>
          <p:cNvSpPr txBox="true"/>
          <p:nvPr/>
        </p:nvSpPr>
        <p:spPr>
          <a:xfrm rot="0">
            <a:off x="5618262" y="952500"/>
            <a:ext cx="7051477"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Other Experimetal results</a:t>
            </a:r>
          </a:p>
        </p:txBody>
      </p:sp>
      <p:sp>
        <p:nvSpPr>
          <p:cNvPr name="TextBox 4" id="4"/>
          <p:cNvSpPr txBox="true"/>
          <p:nvPr/>
        </p:nvSpPr>
        <p:spPr>
          <a:xfrm rot="0">
            <a:off x="1028700" y="2177797"/>
            <a:ext cx="16230600" cy="15811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The ROI(Region of interest) &amp; Skeleton image processing techniques were effective techniques for the original dataset. But, when applied after Data augmentation the accuracy drops. </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345906" y="952500"/>
            <a:ext cx="7596188"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Optimisation of parameters</a:t>
            </a:r>
          </a:p>
        </p:txBody>
      </p:sp>
      <p:sp>
        <p:nvSpPr>
          <p:cNvPr name="TextBox 3" id="3"/>
          <p:cNvSpPr txBox="true"/>
          <p:nvPr/>
        </p:nvSpPr>
        <p:spPr>
          <a:xfrm rot="0">
            <a:off x="1028700" y="2177797"/>
            <a:ext cx="16230600" cy="4781550"/>
          </a:xfrm>
          <a:prstGeom prst="rect">
            <a:avLst/>
          </a:prstGeom>
        </p:spPr>
        <p:txBody>
          <a:bodyPr anchor="t" rtlCol="false" tIns="0" lIns="0" bIns="0" rIns="0">
            <a:spAutoFit/>
          </a:bodyPr>
          <a:lstStyle/>
          <a:p>
            <a:pPr algn="l">
              <a:lnSpc>
                <a:spcPts val="4200"/>
              </a:lnSpc>
            </a:pPr>
            <a:r>
              <a:rPr lang="en-US" sz="3000">
                <a:solidFill>
                  <a:srgbClr val="000000"/>
                </a:solidFill>
                <a:latin typeface="Canva Sans"/>
                <a:ea typeface="Canva Sans"/>
                <a:cs typeface="Canva Sans"/>
                <a:sym typeface="Canva Sans"/>
              </a:rPr>
              <a:t>The MobileNetv2 outperform all the other models with an accuracy of 98.02 after adjusting some of the parameters, </a:t>
            </a:r>
          </a:p>
          <a:p>
            <a:pPr algn="l">
              <a:lnSpc>
                <a:spcPts val="4200"/>
              </a:lnSpc>
            </a:pP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Test size: 0.2</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Random seed: 41</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Image size: 224*224*3</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Batch size: 16</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Train, Test image size: 2052,512</a:t>
            </a:r>
          </a:p>
          <a:p>
            <a:pPr algn="l" marL="647700" indent="-323850" lvl="1">
              <a:lnSpc>
                <a:spcPts val="4200"/>
              </a:lnSpc>
              <a:spcBef>
                <a:spcPct val="0"/>
              </a:spcBef>
              <a:buFont typeface="Arial"/>
              <a:buChar char="•"/>
            </a:pPr>
            <a:r>
              <a:rPr lang="en-US" sz="3000">
                <a:solidFill>
                  <a:srgbClr val="000000"/>
                </a:solidFill>
                <a:latin typeface="Canva Sans"/>
                <a:ea typeface="Canva Sans"/>
                <a:cs typeface="Canva Sans"/>
                <a:sym typeface="Canva Sans"/>
              </a:rPr>
              <a:t>epochs: 20(applied early stopping - callback)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582959"/>
            <a:ext cx="16230600" cy="4353397"/>
          </a:xfrm>
          <a:custGeom>
            <a:avLst/>
            <a:gdLst/>
            <a:ahLst/>
            <a:cxnLst/>
            <a:rect r="r" b="b" t="t" l="l"/>
            <a:pathLst>
              <a:path h="4353397" w="16230600">
                <a:moveTo>
                  <a:pt x="0" y="0"/>
                </a:moveTo>
                <a:lnTo>
                  <a:pt x="16230600" y="0"/>
                </a:lnTo>
                <a:lnTo>
                  <a:pt x="16230600" y="4353397"/>
                </a:lnTo>
                <a:lnTo>
                  <a:pt x="0" y="4353397"/>
                </a:lnTo>
                <a:lnTo>
                  <a:pt x="0" y="0"/>
                </a:lnTo>
                <a:close/>
              </a:path>
            </a:pathLst>
          </a:custGeom>
          <a:blipFill>
            <a:blip r:embed="rId2"/>
            <a:stretch>
              <a:fillRect l="0" t="0" r="0" b="0"/>
            </a:stretch>
          </a:blipFill>
        </p:spPr>
      </p:sp>
      <p:sp>
        <p:nvSpPr>
          <p:cNvPr name="TextBox 3" id="3"/>
          <p:cNvSpPr txBox="true"/>
          <p:nvPr/>
        </p:nvSpPr>
        <p:spPr>
          <a:xfrm rot="0">
            <a:off x="6575971" y="952500"/>
            <a:ext cx="5136059"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Accuracy - metrics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09718" y="2053970"/>
            <a:ext cx="7068565" cy="7462138"/>
          </a:xfrm>
          <a:custGeom>
            <a:avLst/>
            <a:gdLst/>
            <a:ahLst/>
            <a:cxnLst/>
            <a:rect r="r" b="b" t="t" l="l"/>
            <a:pathLst>
              <a:path h="7462138" w="7068565">
                <a:moveTo>
                  <a:pt x="0" y="0"/>
                </a:moveTo>
                <a:lnTo>
                  <a:pt x="7068564" y="0"/>
                </a:lnTo>
                <a:lnTo>
                  <a:pt x="7068564" y="7462138"/>
                </a:lnTo>
                <a:lnTo>
                  <a:pt x="0" y="7462138"/>
                </a:lnTo>
                <a:lnTo>
                  <a:pt x="0" y="0"/>
                </a:lnTo>
                <a:close/>
              </a:path>
            </a:pathLst>
          </a:custGeom>
          <a:blipFill>
            <a:blip r:embed="rId2"/>
            <a:stretch>
              <a:fillRect l="0" t="0" r="0" b="0"/>
            </a:stretch>
          </a:blipFill>
        </p:spPr>
      </p:sp>
      <p:sp>
        <p:nvSpPr>
          <p:cNvPr name="TextBox 3" id="3"/>
          <p:cNvSpPr txBox="true"/>
          <p:nvPr/>
        </p:nvSpPr>
        <p:spPr>
          <a:xfrm rot="0">
            <a:off x="5137621" y="952500"/>
            <a:ext cx="8012757"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Accuracy - confusion metrics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39613" y="1978745"/>
            <a:ext cx="11593044" cy="7805544"/>
          </a:xfrm>
          <a:custGeom>
            <a:avLst/>
            <a:gdLst/>
            <a:ahLst/>
            <a:cxnLst/>
            <a:rect r="r" b="b" t="t" l="l"/>
            <a:pathLst>
              <a:path h="7805544" w="11593044">
                <a:moveTo>
                  <a:pt x="0" y="0"/>
                </a:moveTo>
                <a:lnTo>
                  <a:pt x="11593044" y="0"/>
                </a:lnTo>
                <a:lnTo>
                  <a:pt x="11593044" y="7805544"/>
                </a:lnTo>
                <a:lnTo>
                  <a:pt x="0" y="7805544"/>
                </a:lnTo>
                <a:lnTo>
                  <a:pt x="0" y="0"/>
                </a:lnTo>
                <a:close/>
              </a:path>
            </a:pathLst>
          </a:custGeom>
          <a:blipFill>
            <a:blip r:embed="rId2"/>
            <a:stretch>
              <a:fillRect l="0" t="0" r="0" b="0"/>
            </a:stretch>
          </a:blipFill>
        </p:spPr>
      </p:sp>
      <p:sp>
        <p:nvSpPr>
          <p:cNvPr name="TextBox 3" id="3"/>
          <p:cNvSpPr txBox="true"/>
          <p:nvPr/>
        </p:nvSpPr>
        <p:spPr>
          <a:xfrm rot="0">
            <a:off x="4134966" y="952500"/>
            <a:ext cx="10018068"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Training &amp; Validation accuracy curve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5317" y="1887070"/>
            <a:ext cx="10838207" cy="7371230"/>
          </a:xfrm>
          <a:custGeom>
            <a:avLst/>
            <a:gdLst/>
            <a:ahLst/>
            <a:cxnLst/>
            <a:rect r="r" b="b" t="t" l="l"/>
            <a:pathLst>
              <a:path h="7371230" w="10838207">
                <a:moveTo>
                  <a:pt x="0" y="0"/>
                </a:moveTo>
                <a:lnTo>
                  <a:pt x="10838206" y="0"/>
                </a:lnTo>
                <a:lnTo>
                  <a:pt x="10838206" y="7371230"/>
                </a:lnTo>
                <a:lnTo>
                  <a:pt x="0" y="7371230"/>
                </a:lnTo>
                <a:lnTo>
                  <a:pt x="0" y="0"/>
                </a:lnTo>
                <a:close/>
              </a:path>
            </a:pathLst>
          </a:custGeom>
          <a:blipFill>
            <a:blip r:embed="rId2"/>
            <a:stretch>
              <a:fillRect l="0" t="0" r="0" b="0"/>
            </a:stretch>
          </a:blipFill>
        </p:spPr>
      </p:sp>
      <p:sp>
        <p:nvSpPr>
          <p:cNvPr name="TextBox 3" id="3"/>
          <p:cNvSpPr txBox="true"/>
          <p:nvPr/>
        </p:nvSpPr>
        <p:spPr>
          <a:xfrm rot="0">
            <a:off x="4840263" y="952500"/>
            <a:ext cx="8607475" cy="762000"/>
          </a:xfrm>
          <a:prstGeom prst="rect">
            <a:avLst/>
          </a:prstGeom>
        </p:spPr>
        <p:txBody>
          <a:bodyPr anchor="t" rtlCol="false" tIns="0" lIns="0" bIns="0" rIns="0">
            <a:spAutoFit/>
          </a:bodyPr>
          <a:lstStyle/>
          <a:p>
            <a:pPr algn="ctr">
              <a:lnSpc>
                <a:spcPts val="6299"/>
              </a:lnSpc>
              <a:spcBef>
                <a:spcPct val="0"/>
              </a:spcBef>
            </a:pPr>
            <a:r>
              <a:rPr lang="en-US" sz="4500">
                <a:solidFill>
                  <a:srgbClr val="000000"/>
                </a:solidFill>
                <a:latin typeface="Canva Sans"/>
                <a:ea typeface="Canva Sans"/>
                <a:cs typeface="Canva Sans"/>
                <a:sym typeface="Canva Sans"/>
              </a:rPr>
              <a:t>Training &amp; Validation loss curve</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391671" y="3545827"/>
            <a:ext cx="7504658" cy="2057400"/>
          </a:xfrm>
          <a:prstGeom prst="rect">
            <a:avLst/>
          </a:prstGeom>
        </p:spPr>
        <p:txBody>
          <a:bodyPr anchor="t" rtlCol="false" tIns="0" lIns="0" bIns="0" rIns="0">
            <a:spAutoFit/>
          </a:bodyPr>
          <a:lstStyle/>
          <a:p>
            <a:pPr algn="ctr">
              <a:lnSpc>
                <a:spcPts val="16800"/>
              </a:lnSpc>
              <a:spcBef>
                <a:spcPct val="0"/>
              </a:spcBef>
            </a:pPr>
            <a:r>
              <a:rPr lang="en-US" sz="12000">
                <a:solidFill>
                  <a:srgbClr val="000000"/>
                </a:solidFill>
                <a:latin typeface="Canva Sans"/>
                <a:ea typeface="Canva Sans"/>
                <a:cs typeface="Canva Sans"/>
                <a:sym typeface="Canva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DAHBfYEydNA</dc:identifier>
  <dcterms:modified xsi:type="dcterms:W3CDTF">2011-08-01T06:04:30Z</dcterms:modified>
  <cp:revision>1</cp:revision>
  <dc:title>Report2 - Autism</dc:title>
</cp:coreProperties>
</file>